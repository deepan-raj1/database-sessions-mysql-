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d2a2888d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d2a2888d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d2a2888d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d2a2888d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d2a2888d1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d2a2888d1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d2a2888d1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d2a2888d1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d2a2888d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cd2a2888d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e0985e79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ce0985e7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e0985e79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e0985e79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e0985e79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ce0985e79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e0985e79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ce0985e79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d2a2888d1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cd2a2888d1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d2a2888d1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d2a2888d1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e0985e79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ce0985e79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d2a2888d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cd2a2888d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e0985e792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ce0985e79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e0985e792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ce0985e792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e0985e792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ce0985e792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ce0985e792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ce0985e792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ce0985e792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ce0985e792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ce0985e792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ce0985e792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cd2a2888d1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cd2a2888d1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cd2a2888d1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cd2a2888d1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cd2a2888d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cd2a2888d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cd2a2888d1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cd2a2888d1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cd2a2888d1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cd2a2888d1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cd2a2888d1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cd2a2888d1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cd2a2888d1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cd2a2888d1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cd2a2888d1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cd2a2888d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cd2a2888d1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cd2a2888d1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cd2a2888d1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cd2a2888d1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cd2a2888d1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cd2a2888d1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cd2a2888d1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cd2a2888d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cd2a2888d1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cd2a2888d1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cd2a2888d1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cd2a2888d1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cd2a2888d1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cd2a2888d1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cd2a2888d1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cd2a2888d1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cd2a2888d1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cd2a2888d1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cd2a2888d1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cd2a2888d1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cd2a2888d1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cd2a2888d1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cd2a2888d1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cd2a2888d1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cd2a2888d1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cd2a2888d1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cd2a2888d1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cd2a2888d1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cd2a2888d1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cd2a2888d1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cd2a2888d1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cd2a2888d1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2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Relationship Id="rId4" Type="http://schemas.openxmlformats.org/officeDocument/2006/relationships/image" Target="../media/image24.png"/><Relationship Id="rId5" Type="http://schemas.openxmlformats.org/officeDocument/2006/relationships/image" Target="../media/image3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png"/><Relationship Id="rId4" Type="http://schemas.openxmlformats.org/officeDocument/2006/relationships/image" Target="../media/image3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8.png"/><Relationship Id="rId4" Type="http://schemas.openxmlformats.org/officeDocument/2006/relationships/image" Target="../media/image3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5.png"/><Relationship Id="rId4" Type="http://schemas.openxmlformats.org/officeDocument/2006/relationships/image" Target="../media/image37.png"/><Relationship Id="rId5" Type="http://schemas.openxmlformats.org/officeDocument/2006/relationships/image" Target="../media/image3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8.png"/><Relationship Id="rId4" Type="http://schemas.openxmlformats.org/officeDocument/2006/relationships/image" Target="../media/image4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3: Data Types &amp; Table Structure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MySQL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3 - Data Types &amp; Table structures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INT, BIGINT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VARCHAR vs TEXT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DATE, DATETIME, TIMESTAMP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BOOLEAN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NULL vs NOT NULL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DEFAULT values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Choosing correct data types (performance impact)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Introduction to Data Types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 </a:t>
            </a:r>
            <a:r>
              <a:rPr b="1" lang="en">
                <a:solidFill>
                  <a:schemeClr val="dk1"/>
                </a:solidFill>
              </a:rPr>
              <a:t>data type defines the type of value that a column can store.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Example values: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Numbers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Text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Dates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Boolean values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/>
              <a:t>Why Data Types Matter (Concept + Demo)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chemeClr val="dk1"/>
                </a:solidFill>
              </a:rPr>
              <a:t>Data types uses</a:t>
            </a:r>
            <a:r>
              <a:rPr b="1" lang="en" sz="1300">
                <a:solidFill>
                  <a:schemeClr val="dk1"/>
                </a:solidFill>
              </a:rPr>
              <a:t>:</a:t>
            </a:r>
            <a:endParaRPr b="1" sz="13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Storage size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Performance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Data accuracy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Index performance</a:t>
            </a:r>
            <a:br>
              <a:rPr lang="en">
                <a:solidFill>
                  <a:schemeClr val="dk1"/>
                </a:solidFill>
              </a:rPr>
            </a:b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675" y="1179500"/>
            <a:ext cx="6561600" cy="349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INT vs BIGINT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685" y="1545318"/>
            <a:ext cx="7866901" cy="200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 (Integer)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200" y="1319225"/>
            <a:ext cx="7825375" cy="293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BIGINT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725" y="1285675"/>
            <a:ext cx="8092125" cy="283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188" y="1234438"/>
            <a:ext cx="8301801" cy="2674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Uses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999" y="1274025"/>
            <a:ext cx="3063050" cy="210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9526" y="1274025"/>
            <a:ext cx="4308575" cy="221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176" y="500225"/>
            <a:ext cx="3615407" cy="406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Practical Exercise</a:t>
            </a:r>
            <a:endParaRPr/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1913" y="264800"/>
            <a:ext cx="3267075" cy="474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650" y="472058"/>
            <a:ext cx="5047382" cy="4069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VARCHAR vs TEXT</a:t>
            </a:r>
            <a:endParaRPr/>
          </a:p>
        </p:txBody>
      </p:sp>
      <p:sp>
        <p:nvSpPr>
          <p:cNvPr id="143" name="Google Shape;14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400" y="1619950"/>
            <a:ext cx="7934300" cy="209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531277"/>
            <a:ext cx="5004349" cy="403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807" y="515652"/>
            <a:ext cx="4172600" cy="398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5" name="Google Shape;16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2825" y="530900"/>
            <a:ext cx="5013398" cy="403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7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652" y="542327"/>
            <a:ext cx="5819875" cy="394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375" y="470925"/>
            <a:ext cx="8255075" cy="380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Uses</a:t>
            </a:r>
            <a:endParaRPr/>
          </a:p>
        </p:txBody>
      </p:sp>
      <p:sp>
        <p:nvSpPr>
          <p:cNvPr id="185" name="Google Shape;185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6" name="Google Shape;18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3660575" cy="295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8125" y="1293100"/>
            <a:ext cx="3438903" cy="295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4" name="Google Shape;19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436" y="518300"/>
            <a:ext cx="5898967" cy="405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Practical Exercise</a:t>
            </a:r>
            <a:endParaRPr/>
          </a:p>
        </p:txBody>
      </p:sp>
      <p:sp>
        <p:nvSpPr>
          <p:cNvPr id="200" name="Google Shape;200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775" y="1100639"/>
            <a:ext cx="2647950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025" y="2627934"/>
            <a:ext cx="5295900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7825" y="3819134"/>
            <a:ext cx="2514600" cy="80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DATE vs DATETIME vs TIMESTAMP</a:t>
            </a:r>
            <a:endParaRPr/>
          </a:p>
        </p:txBody>
      </p:sp>
      <p:sp>
        <p:nvSpPr>
          <p:cNvPr id="209" name="Google Shape;209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0" name="Google Shape;21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425" y="1295550"/>
            <a:ext cx="7578850" cy="256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Practical Examples</a:t>
            </a:r>
            <a:endParaRPr/>
          </a:p>
        </p:txBody>
      </p:sp>
      <p:sp>
        <p:nvSpPr>
          <p:cNvPr id="216" name="Google Shape;216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7" name="Google Shape;21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249" y="1208450"/>
            <a:ext cx="3954900" cy="254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4" name="Google Shape;22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950" y="521400"/>
            <a:ext cx="5616075" cy="415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BOOLEAN</a:t>
            </a:r>
            <a:endParaRPr/>
          </a:p>
        </p:txBody>
      </p:sp>
      <p:sp>
        <p:nvSpPr>
          <p:cNvPr id="230" name="Google Shape;230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1" name="Google Shape;23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150" y="1152475"/>
            <a:ext cx="3633100" cy="232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Practical </a:t>
            </a:r>
            <a:r>
              <a:rPr lang="en"/>
              <a:t>Example</a:t>
            </a:r>
            <a:endParaRPr/>
          </a:p>
        </p:txBody>
      </p:sp>
      <p:sp>
        <p:nvSpPr>
          <p:cNvPr id="237" name="Google Shape;237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3199350" cy="1836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328" y="3042578"/>
            <a:ext cx="3006100" cy="147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34113" y="2871513"/>
            <a:ext cx="4524375" cy="159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 NULL vs NOT NULL</a:t>
            </a:r>
            <a:endParaRPr/>
          </a:p>
        </p:txBody>
      </p:sp>
      <p:sp>
        <p:nvSpPr>
          <p:cNvPr id="246" name="Google Shape;246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325" y="1245225"/>
            <a:ext cx="5295275" cy="18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5550" y="1245225"/>
            <a:ext cx="2982650" cy="220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5" name="Google Shape;25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863" y="352425"/>
            <a:ext cx="3724275" cy="443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Practical Exercise 1</a:t>
            </a:r>
            <a:endParaRPr/>
          </a:p>
        </p:txBody>
      </p:sp>
      <p:sp>
        <p:nvSpPr>
          <p:cNvPr id="261" name="Google Shape;261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2" name="Google Shape;26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0700" y="1152476"/>
            <a:ext cx="4747867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Practical Exercise 2</a:t>
            </a:r>
            <a:endParaRPr/>
          </a:p>
        </p:txBody>
      </p:sp>
      <p:sp>
        <p:nvSpPr>
          <p:cNvPr id="268" name="Google Shape;268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9" name="Google Shape;26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600" y="1179888"/>
            <a:ext cx="2857500" cy="169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740" y="2933841"/>
            <a:ext cx="3209925" cy="157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 DEFAULT Values</a:t>
            </a:r>
            <a:endParaRPr/>
          </a:p>
        </p:txBody>
      </p:sp>
      <p:sp>
        <p:nvSpPr>
          <p:cNvPr id="276" name="Google Shape;276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 </a:t>
            </a:r>
            <a:r>
              <a:rPr b="1" lang="en" sz="2000">
                <a:solidFill>
                  <a:schemeClr val="dk1"/>
                </a:solidFill>
              </a:rPr>
              <a:t>default value</a:t>
            </a:r>
            <a:r>
              <a:rPr lang="en" sz="2000">
                <a:solidFill>
                  <a:schemeClr val="dk1"/>
                </a:solidFill>
              </a:rPr>
              <a:t> is automatically inserted if no value is provided.</a:t>
            </a:r>
            <a:endParaRPr sz="27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</a:t>
            </a:r>
            <a:endParaRPr/>
          </a:p>
        </p:txBody>
      </p:sp>
      <p:sp>
        <p:nvSpPr>
          <p:cNvPr id="282" name="Google Shape;282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3" name="Google Shape;28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052" y="1231453"/>
            <a:ext cx="4193950" cy="167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8038" y="2995352"/>
            <a:ext cx="3295650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1263" y="3435388"/>
            <a:ext cx="5343525" cy="113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8. Choosing Correct Data Types (Performance)</a:t>
            </a:r>
            <a:endParaRPr/>
          </a:p>
        </p:txBody>
      </p:sp>
      <p:sp>
        <p:nvSpPr>
          <p:cNvPr id="291" name="Google Shape;291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Good database design improves: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✔ speed</a:t>
            </a:r>
            <a:br>
              <a:rPr lang="en"/>
            </a:br>
            <a:r>
              <a:rPr lang="en"/>
              <a:t> ✔ storage</a:t>
            </a:r>
            <a:br>
              <a:rPr lang="en"/>
            </a:br>
            <a:r>
              <a:rPr lang="en"/>
              <a:t> ✔ performance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types performance</a:t>
            </a:r>
            <a:endParaRPr/>
          </a:p>
        </p:txBody>
      </p:sp>
      <p:sp>
        <p:nvSpPr>
          <p:cNvPr id="297" name="Google Shape;297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1. Smaller data type = Faster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INT faster than BIGINT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VARCHAR(50) better than VARCHAR(1000)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2. Index Performance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Index on: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INT → Fast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VARCHAR → Slower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TEXT → Heavy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Data types performance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3️⃣ Storage Impact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Example: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1 million rows: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INT (4MB approx)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BIGINT (8MB approx)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Double storage = double memory usage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0" name="Google Shape;31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725" y="531100"/>
            <a:ext cx="3351450" cy="4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7" name="Google Shape;31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2" y="445027"/>
            <a:ext cx="2927275" cy="419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8552" y="1191330"/>
            <a:ext cx="2707000" cy="231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5" name="Google Shape;32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601" y="517625"/>
            <a:ext cx="8283950" cy="330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9. Practical Exercise (Mini Practice Task)</a:t>
            </a:r>
            <a:endParaRPr/>
          </a:p>
        </p:txBody>
      </p:sp>
      <p:sp>
        <p:nvSpPr>
          <p:cNvPr id="331" name="Google Shape;331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2" name="Google Shape;33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475" y="1046175"/>
            <a:ext cx="5199225" cy="369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Practical Exercise (Mini Practice Task)</a:t>
            </a:r>
            <a:endParaRPr/>
          </a:p>
        </p:txBody>
      </p:sp>
      <p:sp>
        <p:nvSpPr>
          <p:cNvPr id="338" name="Google Shape;338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9" name="Google Shape;339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501" y="1199126"/>
            <a:ext cx="4942662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46" name="Google Shape;34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925" y="503800"/>
            <a:ext cx="4324075" cy="397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53" name="Google Shape;353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050" y="558650"/>
            <a:ext cx="5585575" cy="386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10. MCQ Test</a:t>
            </a:r>
            <a:endParaRPr/>
          </a:p>
        </p:txBody>
      </p:sp>
      <p:sp>
        <p:nvSpPr>
          <p:cNvPr id="359" name="Google Shape;359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