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24" Type="http://schemas.openxmlformats.org/officeDocument/2006/relationships/slide" Target="slides/slide19.xml"/><Relationship Id="rId12" Type="http://schemas.openxmlformats.org/officeDocument/2006/relationships/slide" Target="slides/slide7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d0cc2e2a3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d0cc2e2a3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d0cc2e2a3a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d0cc2e2a3a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d0cc2e2a3a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d0cc2e2a3a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d0cc2e2a3a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d0cc2e2a3a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d0cc2e2a3a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d0cc2e2a3a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d0cc2e2a3a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d0cc2e2a3a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d0cc2e2a3a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d0cc2e2a3a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d0cc2e2a3a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d0cc2e2a3a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d0cc2e2a3a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d0cc2e2a3a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d0cc2e2a3a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d0cc2e2a3a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d0cc2e2a3a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d0cc2e2a3a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d0cc2e2a3a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d0cc2e2a3a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d0cc2e2a3a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d0cc2e2a3a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d7c8e91c16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d7c8e91c16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d0cc2e2a3a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d0cc2e2a3a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d7c8e91c16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d7c8e91c16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d0cc2e2a3a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d0cc2e2a3a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d0cc2e2a3a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d0cc2e2a3a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8.png"/><Relationship Id="rId4" Type="http://schemas.openxmlformats.org/officeDocument/2006/relationships/image" Target="../media/image9.png"/><Relationship Id="rId5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Relationship Id="rId4" Type="http://schemas.openxmlformats.org/officeDocument/2006/relationships/image" Target="../media/image17.png"/><Relationship Id="rId5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1.png"/><Relationship Id="rId4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Relationship Id="rId4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png"/><Relationship Id="rId4" Type="http://schemas.openxmlformats.org/officeDocument/2006/relationships/image" Target="../media/image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3.png"/><Relationship Id="rId4" Type="http://schemas.openxmlformats.org/officeDocument/2006/relationships/image" Target="../media/image2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Module 6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Functions, Grouping &amp; Filtering	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MySQL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Topics covered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Aggregate Functions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Date Functions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String Functions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GROUP BY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HAVING</a:t>
            </a:r>
            <a:endParaRPr sz="2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are Functions in MySQL?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/>
              <a:t>Functions perform calculations on data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/>
              <a:t>Return a single value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/>
              <a:t>Used in: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" sz="2000"/>
              <a:t>SELECT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" sz="2000"/>
              <a:t>WHERE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" sz="2000"/>
              <a:t>GROUP BY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" sz="2000"/>
              <a:t>HAVING</a:t>
            </a:r>
            <a:endParaRPr sz="2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functions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2000"/>
              <a:t>Aggregate Functions</a:t>
            </a:r>
            <a:endParaRPr sz="20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2000"/>
              <a:t>Date Functions</a:t>
            </a:r>
            <a:endParaRPr sz="20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2000"/>
              <a:t>String Functions</a:t>
            </a:r>
            <a:endParaRPr sz="2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Aggregate Functions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chemeClr val="dk1"/>
                </a:solidFill>
              </a:rPr>
              <a:t>Used to perform calculations on multiple rows.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chemeClr val="dk1"/>
                </a:solidFill>
              </a:rPr>
              <a:t>Common functions: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COUNT()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SUM()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AVG()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MIN()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MAX()</a:t>
            </a:r>
            <a:br>
              <a:rPr lang="en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Return </a:t>
            </a:r>
            <a:r>
              <a:rPr b="1" lang="en" sz="1700">
                <a:solidFill>
                  <a:schemeClr val="dk1"/>
                </a:solidFill>
              </a:rPr>
              <a:t>single value from multiple rows</a:t>
            </a:r>
            <a:endParaRPr sz="17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COUNT()</a:t>
            </a:r>
            <a:endParaRPr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6" name="Google Shape;8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8304" y="1228700"/>
            <a:ext cx="4552351" cy="3263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90325" y="1245588"/>
            <a:ext cx="1371600" cy="1419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90313" y="2827908"/>
            <a:ext cx="2219325" cy="1724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SUM() &amp; AVG()</a:t>
            </a:r>
            <a:endParaRPr/>
          </a:p>
        </p:txBody>
      </p:sp>
      <p:sp>
        <p:nvSpPr>
          <p:cNvPr id="94" name="Google Shape;94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5" name="Google Shape;9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7500" y="1276125"/>
            <a:ext cx="4768950" cy="2594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MIN() &amp; MAX()</a:t>
            </a:r>
            <a:endParaRPr/>
          </a:p>
        </p:txBody>
      </p:sp>
      <p:sp>
        <p:nvSpPr>
          <p:cNvPr id="101" name="Google Shape;101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2" name="Google Shape;10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6825" y="1299357"/>
            <a:ext cx="5375450" cy="2820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Date Functions</a:t>
            </a:r>
            <a:endParaRPr/>
          </a:p>
        </p:txBody>
      </p:sp>
      <p:sp>
        <p:nvSpPr>
          <p:cNvPr id="108" name="Google Shape;108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6990" y="1152477"/>
            <a:ext cx="3145900" cy="3725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12163" y="1519750"/>
            <a:ext cx="2295525" cy="135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78588" y="3032525"/>
            <a:ext cx="1438275" cy="135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String Functions</a:t>
            </a:r>
            <a:endParaRPr/>
          </a:p>
        </p:txBody>
      </p:sp>
      <p:sp>
        <p:nvSpPr>
          <p:cNvPr id="117" name="Google Shape;117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Used to manipulate text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Common:</a:t>
            </a:r>
            <a:endParaRPr sz="2000"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2000"/>
              <a:t>CONCAT()</a:t>
            </a:r>
            <a:endParaRPr sz="20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2000"/>
              <a:t>IFNULL()</a:t>
            </a:r>
            <a:endParaRPr sz="2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CONCAT()</a:t>
            </a:r>
            <a:endParaRPr/>
          </a:p>
        </p:txBody>
      </p:sp>
      <p:sp>
        <p:nvSpPr>
          <p:cNvPr id="123" name="Google Shape;123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4" name="Google Shape;12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2750" y="1173400"/>
            <a:ext cx="7338975" cy="159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IFNULL()</a:t>
            </a:r>
            <a:endParaRPr/>
          </a:p>
        </p:txBody>
      </p:sp>
      <p:sp>
        <p:nvSpPr>
          <p:cNvPr id="130" name="Google Shape;130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4357" y="1186338"/>
            <a:ext cx="6903925" cy="1847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53025" y="2474575"/>
            <a:ext cx="1717325" cy="209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GROUP BY</a:t>
            </a:r>
            <a:endParaRPr/>
          </a:p>
        </p:txBody>
      </p:sp>
      <p:sp>
        <p:nvSpPr>
          <p:cNvPr id="138" name="Google Shape;138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9" name="Google Shape;139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5200" y="1245800"/>
            <a:ext cx="4703525" cy="2972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00513" y="2159777"/>
            <a:ext cx="2452400" cy="1916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GROUP BY Example</a:t>
            </a:r>
            <a:endParaRPr/>
          </a:p>
        </p:txBody>
      </p:sp>
      <p:sp>
        <p:nvSpPr>
          <p:cNvPr id="146" name="Google Shape;146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7" name="Google Shape;14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9425" y="1263150"/>
            <a:ext cx="5220500" cy="245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24475" y="2561150"/>
            <a:ext cx="2733575" cy="1895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HAVING Clause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5" name="Google Shape;155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5877" y="1857552"/>
            <a:ext cx="5384050" cy="1808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HAVING Clause</a:t>
            </a:r>
            <a:endParaRPr/>
          </a:p>
        </p:txBody>
      </p:sp>
      <p:sp>
        <p:nvSpPr>
          <p:cNvPr id="161" name="Google Shape;161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62" name="Google Shape;162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6050" y="1292425"/>
            <a:ext cx="4390600" cy="268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42788" y="1818888"/>
            <a:ext cx="2505075" cy="1628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HAVING Clause </a:t>
            </a:r>
            <a:endParaRPr/>
          </a:p>
        </p:txBody>
      </p:sp>
      <p:sp>
        <p:nvSpPr>
          <p:cNvPr id="169" name="Google Shape;169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70" name="Google Shape;170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1000" y="1152475"/>
            <a:ext cx="4776525" cy="3317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WHERE vs HAVING</a:t>
            </a:r>
            <a:endParaRPr/>
          </a:p>
        </p:txBody>
      </p:sp>
      <p:sp>
        <p:nvSpPr>
          <p:cNvPr id="176" name="Google Shape;176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77" name="Google Shape;177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6775" y="1262750"/>
            <a:ext cx="8149349" cy="189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6777" y="3267077"/>
            <a:ext cx="3902850" cy="1189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</a:t>
            </a:r>
            <a:endParaRPr/>
          </a:p>
        </p:txBody>
      </p:sp>
      <p:sp>
        <p:nvSpPr>
          <p:cNvPr id="184" name="Google Shape;184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Aggregate functions summarize data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Date &amp; String functions manipulate data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GROUP BY groups rows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HAVING filters grouped results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