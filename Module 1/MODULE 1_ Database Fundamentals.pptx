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bf21d8e6e3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bf21d8e6e3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c9629b012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c9629b012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c9629b0125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c9629b0125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c9629b0125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c9629b0125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c9629b0125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c9629b0125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c9629b0125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c9629b0125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ca41b27ec8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ca41b27ec8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c9629b0125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c9629b0125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c9629b0125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c9629b0125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bf21d8e6e3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bf21d8e6e3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c9629b0125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c9629b0125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ca41b27ec8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ca41b27ec8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ca41b27ec8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ca41b27ec8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c9629b0125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c9629b0125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bf21d8e6e3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bf21d8e6e3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c9629b0125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c9629b0125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ca41b27ec8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ca41b27ec8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c9629b0125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c9629b0125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ca41b27ec8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ca41b27ec8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ca41b27ec8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ca41b27ec8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ca41b27ec8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ca41b27ec8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c9629b0125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c9629b0125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c9629b0125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c9629b0125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c9629b0125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c9629b0125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c9629b0125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c9629b0125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ca41b27ec8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ca41b27ec8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c9629b0125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c9629b0125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bf21d8e6e3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bf21d8e6e3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bf21d8e6e3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bf21d8e6e3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bf21d8e6e3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bf21d8e6e3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bf21d8e6e3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bf21d8e6e3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bf21d8e6e3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bf21d8e6e3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7.png"/><Relationship Id="rId5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://node.js" TargetMode="External"/><Relationship Id="rId4" Type="http://schemas.openxmlformats.org/officeDocument/2006/relationships/image" Target="../media/image6.png"/><Relationship Id="rId5" Type="http://schemas.openxmlformats.org/officeDocument/2006/relationships/image" Target="../media/image11.png"/><Relationship Id="rId6" Type="http://schemas.openxmlformats.org/officeDocument/2006/relationships/image" Target="../media/image23.png"/><Relationship Id="rId7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://localhost/phpmyadmin" TargetMode="Externa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40772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MODULE 1: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Database Fundamentals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MySQL</a:t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3900" y="2641719"/>
            <a:ext cx="2225150" cy="2170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Database Fundamentals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What is a Database?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DBMS vs RDBMS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Why MySQL for Web Applications?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Client–Server Architecture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MySQL vs PostgreSQL (high-level comparison)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Hands-on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Installing MySQL (Linux/Windows)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MySQL Workbench &amp; MySQL Command Line Interface (</a:t>
            </a:r>
            <a:r>
              <a:rPr lang="en">
                <a:solidFill>
                  <a:schemeClr val="dk1"/>
                </a:solidFill>
              </a:rPr>
              <a:t>CLI)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Connecting to MySQL Server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Database?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Simple Definition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 </a:t>
            </a:r>
            <a:r>
              <a:rPr b="1" lang="en">
                <a:solidFill>
                  <a:schemeClr val="dk1"/>
                </a:solidFill>
              </a:rPr>
              <a:t>database</a:t>
            </a:r>
            <a:r>
              <a:rPr lang="en">
                <a:solidFill>
                  <a:schemeClr val="dk1"/>
                </a:solidFill>
              </a:rPr>
              <a:t> is an organized collection of data stored electronically so it can be easily accessed, managed, and updated.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Real-World Examples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Instagram → User profiles, posts, comments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Amazon → Products, orders, payments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Banking system → Accounts, transactions</a:t>
            </a:r>
            <a:endParaRPr/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52900" y="2277150"/>
            <a:ext cx="910000" cy="9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92825" y="3394575"/>
            <a:ext cx="1411550" cy="141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83825" y="3096458"/>
            <a:ext cx="1309050" cy="9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Without databases:</a:t>
            </a:r>
            <a:endParaRPr/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Data would be stored in files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Difficult to search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No relationships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High data duplication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No security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78" name="Google Shape;7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97438" y="806194"/>
            <a:ext cx="2600325" cy="175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10393" y="2942763"/>
            <a:ext cx="2847975" cy="16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6" name="Google Shape;8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0200" y="1205188"/>
            <a:ext cx="7905749" cy="27331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311700" y="289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DBMS vs RDBMS</a:t>
            </a:r>
            <a:endParaRPr/>
          </a:p>
        </p:txBody>
      </p:sp>
      <p:sp>
        <p:nvSpPr>
          <p:cNvPr id="92" name="Google Shape;92;p18"/>
          <p:cNvSpPr txBox="1"/>
          <p:nvPr>
            <p:ph idx="1" type="body"/>
          </p:nvPr>
        </p:nvSpPr>
        <p:spPr>
          <a:xfrm>
            <a:off x="311700" y="1017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What is DBMS?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DBMS (Database Management System)</a:t>
            </a:r>
            <a:br>
              <a:rPr b="1"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Software that manages databases.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Examples: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Microsoft Access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MongoDB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Characteristics: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Stores data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No strict relationships required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May store unstructured data</a:t>
            </a:r>
            <a:endParaRPr/>
          </a:p>
        </p:txBody>
      </p:sp>
      <p:pic>
        <p:nvPicPr>
          <p:cNvPr id="93" name="Google Shape;9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91675" y="655550"/>
            <a:ext cx="3549925" cy="233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RDBMS?</a:t>
            </a:r>
            <a:endParaRPr/>
          </a:p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RDBMS (Relational Database Management System)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Stores data in </a:t>
            </a:r>
            <a:r>
              <a:rPr b="1" lang="en">
                <a:solidFill>
                  <a:schemeClr val="dk1"/>
                </a:solidFill>
              </a:rPr>
              <a:t>tables</a:t>
            </a:r>
            <a:r>
              <a:rPr lang="en">
                <a:solidFill>
                  <a:schemeClr val="dk1"/>
                </a:solidFill>
              </a:rPr>
              <a:t> with relationships.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Examples: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MySQL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PostgreSQL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Oracle Database</a:t>
            </a:r>
            <a:endParaRPr/>
          </a:p>
        </p:txBody>
      </p:sp>
      <p:pic>
        <p:nvPicPr>
          <p:cNvPr id="100" name="Google Shape;10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9906" y="1684275"/>
            <a:ext cx="2846300" cy="288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Database work flow</a:t>
            </a:r>
            <a:endParaRPr/>
          </a:p>
        </p:txBody>
      </p:sp>
      <p:sp>
        <p:nvSpPr>
          <p:cNvPr id="106" name="Google Shape;106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7" name="Google Shape;10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325" y="1394850"/>
            <a:ext cx="8050875" cy="258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4" name="Google Shape;11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445025"/>
            <a:ext cx="7427344" cy="412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 txBox="1"/>
          <p:nvPr>
            <p:ph type="title"/>
          </p:nvPr>
        </p:nvSpPr>
        <p:spPr>
          <a:xfrm>
            <a:off x="246925" y="2247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MySQL for Web Applications?</a:t>
            </a:r>
            <a:endParaRPr/>
          </a:p>
        </p:txBody>
      </p:sp>
      <p:sp>
        <p:nvSpPr>
          <p:cNvPr id="120" name="Google Shape;120;p22"/>
          <p:cNvSpPr txBox="1"/>
          <p:nvPr>
            <p:ph idx="1" type="body"/>
          </p:nvPr>
        </p:nvSpPr>
        <p:spPr>
          <a:xfrm>
            <a:off x="246925" y="8635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Reasons MySQL is Popular</a:t>
            </a:r>
            <a:endParaRPr b="1"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1. Open Source</a:t>
            </a:r>
            <a:endParaRPr b="1"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Free and widely supported.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2. High Performance</a:t>
            </a:r>
            <a:endParaRPr b="1"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Optimized for read-heavy web applications.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3. Easy Integration</a:t>
            </a:r>
            <a:endParaRPr b="1"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Works smoothly with: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Python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Django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Flask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 u="sng">
                <a:solidFill>
                  <a:schemeClr val="hlink"/>
                </a:solidFill>
                <a:hlinkClick r:id="rId3"/>
              </a:rPr>
              <a:t>Node.js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PHP</a:t>
            </a:r>
            <a:endParaRPr sz="1400"/>
          </a:p>
        </p:txBody>
      </p:sp>
      <p:pic>
        <p:nvPicPr>
          <p:cNvPr id="121" name="Google Shape;121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55938" y="1068400"/>
            <a:ext cx="3267075" cy="1400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59175" y="3614700"/>
            <a:ext cx="940625" cy="94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60013" y="3511050"/>
            <a:ext cx="1044275" cy="104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330200" y="3671312"/>
            <a:ext cx="1534450" cy="82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Why MySQL for Web Applications?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</a:rPr>
              <a:t>4. Large Community Support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Documentation, StackOverflow, tutorials available.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</a:rPr>
              <a:t>5. Used in Real Systems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Used in many large platforms.</a:t>
            </a:r>
            <a:endParaRPr sz="16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MySQL for Python Full-Stack?</a:t>
            </a:r>
            <a:endParaRPr/>
          </a:p>
        </p:txBody>
      </p:sp>
      <p:sp>
        <p:nvSpPr>
          <p:cNvPr id="136" name="Google Shape;136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Because: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Django default support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Simple setup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Lightweight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Production ready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37" name="Google Shape;13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57950" y="2049775"/>
            <a:ext cx="3850451" cy="146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300"/>
              <a:t>What is Client–Server Architecture?</a:t>
            </a:r>
            <a:endParaRPr/>
          </a:p>
        </p:txBody>
      </p:sp>
      <p:sp>
        <p:nvSpPr>
          <p:cNvPr id="143" name="Google Shape;143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</a:rPr>
              <a:t>Client–Server Architecture</a:t>
            </a:r>
            <a:r>
              <a:rPr lang="en" sz="1700">
                <a:solidFill>
                  <a:schemeClr val="dk1"/>
                </a:solidFill>
              </a:rPr>
              <a:t> is a system design where: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The </a:t>
            </a:r>
            <a:r>
              <a:rPr b="1" lang="en" sz="1700">
                <a:solidFill>
                  <a:schemeClr val="dk1"/>
                </a:solidFill>
              </a:rPr>
              <a:t>client</a:t>
            </a:r>
            <a:r>
              <a:rPr lang="en" sz="1700">
                <a:solidFill>
                  <a:schemeClr val="dk1"/>
                </a:solidFill>
              </a:rPr>
              <a:t> sends requests</a:t>
            </a:r>
            <a:br>
              <a:rPr lang="en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The </a:t>
            </a:r>
            <a:r>
              <a:rPr b="1" lang="en" sz="1700">
                <a:solidFill>
                  <a:schemeClr val="dk1"/>
                </a:solidFill>
              </a:rPr>
              <a:t>server</a:t>
            </a:r>
            <a:r>
              <a:rPr lang="en" sz="1700">
                <a:solidFill>
                  <a:schemeClr val="dk1"/>
                </a:solidFill>
              </a:rPr>
              <a:t> processes those requests</a:t>
            </a:r>
            <a:br>
              <a:rPr lang="en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The </a:t>
            </a:r>
            <a:r>
              <a:rPr b="1" lang="en" sz="1700">
                <a:solidFill>
                  <a:schemeClr val="dk1"/>
                </a:solidFill>
              </a:rPr>
              <a:t>server</a:t>
            </a:r>
            <a:r>
              <a:rPr lang="en" sz="1700">
                <a:solidFill>
                  <a:schemeClr val="dk1"/>
                </a:solidFill>
              </a:rPr>
              <a:t> sends back a response</a:t>
            </a:r>
            <a:br>
              <a:rPr lang="en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👉 In simple words:</a:t>
            </a:r>
            <a:br>
              <a:rPr lang="en" sz="1700">
                <a:solidFill>
                  <a:schemeClr val="dk1"/>
                </a:solidFill>
              </a:rPr>
            </a:br>
            <a:r>
              <a:rPr lang="en" sz="1700">
                <a:solidFill>
                  <a:schemeClr val="dk1"/>
                </a:solidFill>
              </a:rPr>
              <a:t> </a:t>
            </a:r>
            <a:r>
              <a:rPr b="1" lang="en" sz="1700">
                <a:solidFill>
                  <a:schemeClr val="dk1"/>
                </a:solidFill>
              </a:rPr>
              <a:t>Client asks → Server responds</a:t>
            </a:r>
            <a:endParaRPr sz="2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Real-World Example</a:t>
            </a:r>
            <a:endParaRPr/>
          </a:p>
        </p:txBody>
      </p:sp>
      <p:sp>
        <p:nvSpPr>
          <p:cNvPr id="149" name="Google Shape;149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When you open Amazon:</a:t>
            </a:r>
            <a:endParaRPr sz="20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" sz="2000">
                <a:solidFill>
                  <a:schemeClr val="dk1"/>
                </a:solidFill>
              </a:rPr>
              <a:t>You open browser</a:t>
            </a:r>
            <a:endParaRPr sz="20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" sz="2000">
                <a:solidFill>
                  <a:schemeClr val="dk1"/>
                </a:solidFill>
              </a:rPr>
              <a:t>You search for a product</a:t>
            </a:r>
            <a:endParaRPr sz="20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" sz="2000">
                <a:solidFill>
                  <a:schemeClr val="dk1"/>
                </a:solidFill>
              </a:rPr>
              <a:t>Browser sends request</a:t>
            </a:r>
            <a:endParaRPr sz="20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" sz="2000">
                <a:solidFill>
                  <a:schemeClr val="dk1"/>
                </a:solidFill>
              </a:rPr>
              <a:t>Server processes request</a:t>
            </a:r>
            <a:endParaRPr sz="20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" sz="2000">
                <a:solidFill>
                  <a:schemeClr val="dk1"/>
                </a:solidFill>
              </a:rPr>
              <a:t>Server returns product list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That is client–server architecture.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Client–Server Architecture</a:t>
            </a:r>
            <a:endParaRPr/>
          </a:p>
        </p:txBody>
      </p:sp>
      <p:sp>
        <p:nvSpPr>
          <p:cNvPr id="155" name="Google Shape;155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What is Client–Server?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 database system works in </a:t>
            </a:r>
            <a:r>
              <a:rPr b="1" lang="en">
                <a:solidFill>
                  <a:schemeClr val="dk1"/>
                </a:solidFill>
              </a:rPr>
              <a:t>client-server model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Structure: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Client (Application)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↓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MySQL Server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↓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Database</a:t>
            </a:r>
            <a:endParaRPr/>
          </a:p>
        </p:txBody>
      </p:sp>
      <p:pic>
        <p:nvPicPr>
          <p:cNvPr id="156" name="Google Shape;15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2888" y="2457688"/>
            <a:ext cx="3362325" cy="1362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Client–Server Architecture</a:t>
            </a:r>
            <a:endParaRPr/>
          </a:p>
        </p:txBody>
      </p:sp>
      <p:sp>
        <p:nvSpPr>
          <p:cNvPr id="162" name="Google Shape;162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3" name="Google Shape;16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144" y="1095450"/>
            <a:ext cx="6505276" cy="3672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Client</a:t>
            </a:r>
            <a:endParaRPr/>
          </a:p>
        </p:txBody>
      </p:sp>
      <p:sp>
        <p:nvSpPr>
          <p:cNvPr id="169" name="Google Shape;169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The client is the system that </a:t>
            </a:r>
            <a:r>
              <a:rPr b="1" lang="en" sz="1700">
                <a:solidFill>
                  <a:schemeClr val="dk1"/>
                </a:solidFill>
              </a:rPr>
              <a:t>initiates the request</a:t>
            </a:r>
            <a:r>
              <a:rPr lang="en" sz="1700">
                <a:solidFill>
                  <a:schemeClr val="dk1"/>
                </a:solidFill>
              </a:rPr>
              <a:t>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Examples: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Web Browser (Chrome)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Mobile App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Python Application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phpMyAdmin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Client does: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Send requests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Display results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Handle UI</a:t>
            </a:r>
            <a:endParaRPr b="1"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Server</a:t>
            </a:r>
            <a:endParaRPr/>
          </a:p>
        </p:txBody>
      </p:sp>
      <p:sp>
        <p:nvSpPr>
          <p:cNvPr id="175" name="Google Shape;175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server: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Receives requests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Processes logic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Accesses database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Sends response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Example: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MySQL Server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Django server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Flask server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2" name="Google Shape;182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753" y="586300"/>
            <a:ext cx="5906725" cy="3922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Client–Server Architecture</a:t>
            </a:r>
            <a:endParaRPr/>
          </a:p>
        </p:txBody>
      </p:sp>
      <p:sp>
        <p:nvSpPr>
          <p:cNvPr id="188" name="Google Shape;188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9" name="Google Shape;18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8229" y="1576004"/>
            <a:ext cx="6569775" cy="2207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Types of Client–Server Architecture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6" name="Google Shape;196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2" y="1152475"/>
            <a:ext cx="5682835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03" name="Google Shape;20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1625" y="1238825"/>
            <a:ext cx="7433800" cy="317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MySQL vs PostgreSQL (High-Level Comparison)</a:t>
            </a:r>
            <a:endParaRPr/>
          </a:p>
        </p:txBody>
      </p:sp>
      <p:sp>
        <p:nvSpPr>
          <p:cNvPr id="209" name="Google Shape;209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10" name="Google Shape;210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650" y="1165425"/>
            <a:ext cx="8119514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MySQL vs PostgreSQL</a:t>
            </a:r>
            <a:endParaRPr/>
          </a:p>
        </p:txBody>
      </p:sp>
      <p:sp>
        <p:nvSpPr>
          <p:cNvPr id="216" name="Google Shape;216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👉 If building: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E-commerce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Blogs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REST APIs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→ MySQL is perfect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👉 If building: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Financial systems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Analytics systems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→ PostgreSQL preferred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Hands-On Section (Practical Part)</a:t>
            </a:r>
            <a:endParaRPr/>
          </a:p>
        </p:txBody>
      </p:sp>
      <p:sp>
        <p:nvSpPr>
          <p:cNvPr id="222" name="Google Shape;222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300">
                <a:solidFill>
                  <a:schemeClr val="dk1"/>
                </a:solidFill>
              </a:rPr>
              <a:t>Installing MySQL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</a:rPr>
              <a:t>Windows</a:t>
            </a:r>
            <a:endParaRPr b="1" sz="17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Download from official website of MySQL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Choose MySQL Installer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Select:</a:t>
            </a:r>
            <a:endParaRPr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MySQL Server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MySQL Workbench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phpmyadmin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Set root password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29" name="Google Shape;229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1" y="428625"/>
            <a:ext cx="5039101" cy="450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phpMyAdmin Interface Overview</a:t>
            </a:r>
            <a:endParaRPr/>
          </a:p>
        </p:txBody>
      </p:sp>
      <p:sp>
        <p:nvSpPr>
          <p:cNvPr id="235" name="Google Shape;235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http://localhost/phpmyadmin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Database Using phpMyAdmin</a:t>
            </a:r>
            <a:endParaRPr/>
          </a:p>
        </p:txBody>
      </p:sp>
      <p:sp>
        <p:nvSpPr>
          <p:cNvPr id="241" name="Google Shape;241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42" name="Google Shape;242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575" y="1222800"/>
            <a:ext cx="4317675" cy="300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49" name="Google Shape;249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88" y="161925"/>
            <a:ext cx="6391275" cy="481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56" name="Google Shape;256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2675" y="445027"/>
            <a:ext cx="4537625" cy="424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63" name="Google Shape;263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7350" y="524000"/>
            <a:ext cx="5608578" cy="404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70" name="Google Shape;270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499475"/>
            <a:ext cx="6205125" cy="3989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5"/>
          <p:cNvSpPr txBox="1"/>
          <p:nvPr>
            <p:ph type="title"/>
          </p:nvPr>
        </p:nvSpPr>
        <p:spPr>
          <a:xfrm>
            <a:off x="3386950" y="2165850"/>
            <a:ext cx="2585700" cy="81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Session End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