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746c51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746c51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746c51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746c51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746c514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746c514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746c514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746c51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e746c51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e746c51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746c514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e746c514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e746c514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e746c514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746c514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746c514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e746c514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e746c514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e746c514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e746c514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e746c514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e746c514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e746c514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e746c514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746c514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e746c514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e746c514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e746c514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e746c514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e746c514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e746c514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e746c514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e746c514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e746c514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e746c514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e746c514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e746c514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e746c514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e746c514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e746c514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e746c514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e746c514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e746c514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e746c514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e746c514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e746c514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e746c514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e746c514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e746c514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e746c514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e746c514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e746c514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e746c514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e746c514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e746c5144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e746c514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e746c5144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e746c5144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e746c514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e746c514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e746c514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e746c514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e746c514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e746c514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e746c514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e746c514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e746c514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e746c514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e746c514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e746c514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e746c514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e746c514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e746c514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e746c514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e746c5144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e746c514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e746c514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e746c514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ed91d47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ed91d4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e746c5144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e746c5144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e746c514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ce746c514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e746c5144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ce746c514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80"/>
              <a:t>MODULE 4: </a:t>
            </a:r>
            <a:endParaRPr sz="4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80"/>
              <a:t>Keys, Constraints &amp; Relationships</a:t>
            </a:r>
            <a:endParaRPr sz="42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Keys, Constraints &amp; Relationships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Primary Key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Foreign Key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Unique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 NULL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CHECK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AUTO_INCREMENT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 DELETE / ON UPDATE 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CASCADE 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SET NULL 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RESTRICT 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Relationships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One-to-One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One-to-Many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Many-to-Many (junction tables)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the end of this session trainees will learn: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</a:t>
            </a:r>
            <a:r>
              <a:rPr b="1" lang="en">
                <a:solidFill>
                  <a:schemeClr val="dk1"/>
                </a:solidFill>
              </a:rPr>
              <a:t>keys and constraints</a:t>
            </a:r>
            <a:r>
              <a:rPr lang="en">
                <a:solidFill>
                  <a:schemeClr val="dk1"/>
                </a:solidFill>
              </a:rPr>
              <a:t> are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Why they are important for </a:t>
            </a:r>
            <a:r>
              <a:rPr b="1" lang="en">
                <a:solidFill>
                  <a:schemeClr val="dk1"/>
                </a:solidFill>
              </a:rPr>
              <a:t>data integrity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to create </a:t>
            </a:r>
            <a:r>
              <a:rPr b="1" lang="en">
                <a:solidFill>
                  <a:schemeClr val="dk1"/>
                </a:solidFill>
              </a:rPr>
              <a:t>Primary Keys, Foreign Keys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to use </a:t>
            </a:r>
            <a:r>
              <a:rPr b="1" lang="en">
                <a:solidFill>
                  <a:schemeClr val="dk1"/>
                </a:solidFill>
              </a:rPr>
              <a:t>UNIQUE, NOT NULL, CHECK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</a:t>
            </a:r>
            <a:r>
              <a:rPr b="1" lang="en">
                <a:solidFill>
                  <a:schemeClr val="dk1"/>
                </a:solidFill>
              </a:rPr>
              <a:t>AUTO_INCREMENT</a:t>
            </a:r>
            <a:r>
              <a:rPr lang="en">
                <a:solidFill>
                  <a:schemeClr val="dk1"/>
                </a:solidFill>
              </a:rPr>
              <a:t> works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happens with </a:t>
            </a:r>
            <a:r>
              <a:rPr b="1" lang="en">
                <a:solidFill>
                  <a:schemeClr val="dk1"/>
                </a:solidFill>
              </a:rPr>
              <a:t>ON DELETE / ON UPDATE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Understanding </a:t>
            </a:r>
            <a:r>
              <a:rPr b="1" lang="en">
                <a:solidFill>
                  <a:schemeClr val="dk1"/>
                </a:solidFill>
              </a:rPr>
              <a:t>table relationships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Designing </a:t>
            </a:r>
            <a:r>
              <a:rPr b="1" lang="en">
                <a:solidFill>
                  <a:schemeClr val="dk1"/>
                </a:solidFill>
              </a:rPr>
              <a:t>One-to-One, One-to-Many, Many-to-Many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Constraints?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Definition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Constraints are </a:t>
            </a:r>
            <a:r>
              <a:rPr b="1" lang="en">
                <a:solidFill>
                  <a:schemeClr val="dk1"/>
                </a:solidFill>
              </a:rPr>
              <a:t>rules applied to table columns</a:t>
            </a:r>
            <a:r>
              <a:rPr lang="en">
                <a:solidFill>
                  <a:schemeClr val="dk1"/>
                </a:solidFill>
              </a:rPr>
              <a:t> to control the type of data stored.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ensure: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✔ Data accuracy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✔ Data integrity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✔ No duplicate or invalid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75" y="1152475"/>
            <a:ext cx="4371725" cy="22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KEY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27" y="1217852"/>
            <a:ext cx="4757650" cy="23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9338" y="2602212"/>
            <a:ext cx="4200525" cy="194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Demo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44" y="1152475"/>
            <a:ext cx="3567325" cy="19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4956" y="1187320"/>
            <a:ext cx="3567325" cy="2433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Practical 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25" y="1213225"/>
            <a:ext cx="3730175" cy="22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4357"/>
            <a:ext cx="3730175" cy="359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Constraint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52" y="1228527"/>
            <a:ext cx="6927350" cy="29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Example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00" y="1230450"/>
            <a:ext cx="2992375" cy="3340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000" y="1307363"/>
            <a:ext cx="3160800" cy="28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NULL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38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Ensures that a column </a:t>
            </a:r>
            <a:r>
              <a:rPr b="1" lang="en">
                <a:solidFill>
                  <a:schemeClr val="dk1"/>
                </a:solidFill>
              </a:rPr>
              <a:t>cannot store NULL values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850" y="354237"/>
            <a:ext cx="3485475" cy="443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Constraint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50" y="1248025"/>
            <a:ext cx="3632225" cy="26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Example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688" y="699725"/>
            <a:ext cx="3228975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AUTO_INCREMENT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Concept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Automatically generates numbers.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Used mostly with </a:t>
            </a:r>
            <a:r>
              <a:rPr b="1" lang="en">
                <a:solidFill>
                  <a:schemeClr val="dk1"/>
                </a:solidFill>
              </a:rPr>
              <a:t>Primary Key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Example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3800"/>
            <a:ext cx="4758649" cy="36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1925" y="2457925"/>
            <a:ext cx="3459250" cy="20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FOREIGN KEY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624" y="888869"/>
            <a:ext cx="4433200" cy="39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Demo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56" y="1204299"/>
            <a:ext cx="4015575" cy="23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775" y="1210200"/>
            <a:ext cx="3719800" cy="23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Demo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50" y="1283925"/>
            <a:ext cx="4164850" cy="228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700" y="1283925"/>
            <a:ext cx="3680900" cy="30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DELETE / ON UPDATE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control what happens when parent table changes.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450" y="1682800"/>
            <a:ext cx="4337175" cy="31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DELETE CASCADE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13" y="1152476"/>
            <a:ext cx="47501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ON DELETE CASCADE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29" y="1293450"/>
            <a:ext cx="4873175" cy="2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NULL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262" y="1204302"/>
            <a:ext cx="3461600" cy="21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DELETE SET NULL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51" y="1108075"/>
            <a:ext cx="4048925" cy="37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ON DELETE SET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300" y="1448200"/>
            <a:ext cx="4824450" cy="232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25" y="584175"/>
            <a:ext cx="3841125" cy="31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DELETE RESTRICT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1152475"/>
            <a:ext cx="355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</a:t>
            </a:r>
            <a:r>
              <a:rPr b="1" lang="en">
                <a:solidFill>
                  <a:schemeClr val="dk1"/>
                </a:solidFill>
              </a:rPr>
              <a:t>cannot delete parent if child records exist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2399" y="674264"/>
            <a:ext cx="4029075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DELETE RESTRICT</a:t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75" y="1281062"/>
            <a:ext cx="5078725" cy="25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UPDATE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07" y="1152463"/>
            <a:ext cx="369570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75" y="505275"/>
            <a:ext cx="5379224" cy="40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summary</a:t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75" y="1247954"/>
            <a:ext cx="6955875" cy="2814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Life Analogy </a:t>
            </a:r>
            <a:endParaRPr/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00" y="1212201"/>
            <a:ext cx="6121596" cy="33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Relationships</a:t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Relationships define </a:t>
            </a:r>
            <a:r>
              <a:rPr b="1" lang="en">
                <a:solidFill>
                  <a:schemeClr val="dk1"/>
                </a:solidFill>
              </a:rPr>
              <a:t>how tables connect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to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to Many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to Many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4000500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445026"/>
            <a:ext cx="3134575" cy="42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75" y="483900"/>
            <a:ext cx="3821250" cy="42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Demo</a:t>
            </a:r>
            <a:endParaRPr/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031" y="762763"/>
            <a:ext cx="3279250" cy="39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Demo</a:t>
            </a:r>
            <a:endParaRPr/>
          </a:p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788" y="1152475"/>
            <a:ext cx="584913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 for Students</a:t>
            </a:r>
            <a:endParaRPr/>
          </a:p>
        </p:txBody>
      </p:sp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25" y="1218432"/>
            <a:ext cx="2091025" cy="35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063" y="1017725"/>
            <a:ext cx="2943225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25" y="1152478"/>
            <a:ext cx="3892725" cy="21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00" y="1152475"/>
            <a:ext cx="3988231" cy="32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514350"/>
            <a:ext cx="79438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 and doubts?</a:t>
            </a:r>
            <a:endParaRPr/>
          </a:p>
        </p:txBody>
      </p:sp>
      <p:sp>
        <p:nvSpPr>
          <p:cNvPr id="344" name="Google Shape;34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MCQ Test</a:t>
            </a:r>
            <a:endParaRPr/>
          </a:p>
        </p:txBody>
      </p:sp>
      <p:sp>
        <p:nvSpPr>
          <p:cNvPr id="350" name="Google Shape;35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>
            <p:ph type="title"/>
          </p:nvPr>
        </p:nvSpPr>
        <p:spPr>
          <a:xfrm>
            <a:off x="2901000" y="2285400"/>
            <a:ext cx="334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